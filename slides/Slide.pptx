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57" r:id="rId5"/>
    <p:sldId id="258" r:id="rId6"/>
    <p:sldId id="259" r:id="rId7"/>
    <p:sldId id="260" r:id="rId8"/>
    <p:sldId id="275" r:id="rId9"/>
    <p:sldId id="261" r:id="rId10"/>
    <p:sldId id="263" r:id="rId11"/>
    <p:sldId id="274" r:id="rId12"/>
    <p:sldId id="264" r:id="rId13"/>
    <p:sldId id="265" r:id="rId14"/>
    <p:sldId id="266" r:id="rId15"/>
    <p:sldId id="267" r:id="rId16"/>
    <p:sldId id="270" r:id="rId1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11E8-F48A-4BBC-ACF2-5E6207AA7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2F612-9E75-4AA6-901B-748067049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56968-0BE0-4F81-9B6A-F55008E9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BA870-DA45-4E92-9CD4-E214D64A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9750F-2781-45C6-8D2E-62B07F04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416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5E47-A7D6-467C-872A-40609C6E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B36B3-A84F-4AEF-8917-C07F28E31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2B3ED-0FEC-41EC-9CF1-7FC7F9C2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1050E-2656-4B06-B6E9-B75B522F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73921-2D8D-4C1F-A30F-213A2719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543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460D-4979-4B83-9E3B-5C8B4463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2587D-A44D-46E1-8B4D-36F28D882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7E10-4893-41A7-AD11-BBDB09C7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F7486-F43E-44EC-8EF6-7115CD20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5BCFB-BFE2-40D1-9A11-242AE226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894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D300-BACA-4B17-B184-978F3C50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B5C0-D082-4788-B5D4-F05726BCB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1C79E-6B09-4707-8B09-3089DE7FA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C607D-F7E4-4420-B546-899B0069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AB5B5-6CDE-4CD2-8E1B-1422316E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73756-B5E0-4AC8-B8D0-1655AA11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922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884B-2988-45A3-B35E-62201AB55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1EEE1-F219-4A62-9398-8B386AC51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4D0DD-5567-4AFC-A04E-832587514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DD8C7-493F-47A2-B623-49665AE39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25339E-4466-4E9D-896A-8F8475206E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8F59D2-F7DF-440F-85D9-85865F1F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5D68B-3DFC-4AD2-ADBB-97267D80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69009-7088-4EEB-AAFB-89F05D99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3260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CF639-A8F0-497E-8931-1CA9A346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27D84-D088-455F-9C12-1520967CD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2ABBE-2DE6-4238-96CC-103256B53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1A9F9-1A56-4541-99B3-72CFD278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3358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F4D8E-7ACE-4C40-92DD-5CD5C4A6C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2FE28-2B0D-4D72-B02D-D60A06B1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D0D33-0617-4113-B024-C07FC412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216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5F82-0025-4CE1-8737-DE21D064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FA005-99F6-41EB-8679-0FD650FEA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A954F-521B-47D1-A687-5B08E3BF2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691B0-D52C-4A59-8F93-1E77388B3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1C27B-27AE-4E32-8DB9-696AE394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12F65-6729-41A9-A3EB-5776B2BFB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6572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CD9C9-5C8D-47E4-B0A0-39C047EA8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33E7FD-6C0A-4F5E-B03B-D5EE3F52A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DEE08-5D6A-4C40-A18B-371E4EA2A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C2B72-E480-4436-854E-B1BD20A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21A10-A11B-4AE4-BC6F-8279C1DD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05C03-AB95-4B8E-B6D2-BA961EA9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52314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49E8-9E9F-43E2-A8F6-10C7BD2E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B09B4-6C3E-4FF0-B602-E9B88A18C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BE720-8994-44E2-8CD2-1E223A8F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7DBC2-DB7C-4FB7-9489-AE8721F0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7B7DF-DDDC-43BF-9A1A-CA09871C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452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3B363-0537-4EDA-81F4-26AACFAF0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9AF4E-EA8B-4C80-B349-6854F353C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F7196-5AA6-46FF-A501-81E9BE43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CD579-8F9D-4410-B934-FA5AF169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AFFE4-3D3C-4FDB-BBD7-3B5EC1A4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052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F57E8-93F0-43D8-872D-892DBF19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A0F31-7748-4565-9BCC-9069324F9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2CACA-AB7D-4ACF-92E2-E2C48FEA7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C7A07-B673-4B20-9B27-117B0C4DFF26}" type="datetimeFigureOut">
              <a:rPr lang="vi-VN" smtClean="0"/>
              <a:t>07/12/2025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A69F3-44CB-45ED-9172-85792ACC4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22942-CB8B-4350-B88E-5D1BB5D06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EABB9-5750-45B8-A58D-7504F6E44F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353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565" y="755374"/>
            <a:ext cx="9872870" cy="2639392"/>
          </a:xfrm>
        </p:spPr>
        <p:txBody>
          <a:bodyPr>
            <a:normAutofit/>
          </a:bodyPr>
          <a:lstStyle/>
          <a:p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 (Linear Regression &amp; Random Forest)</a:t>
            </a:r>
            <a:endParaRPr lang="vi-V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C6B85-7877-400B-89A7-7314E46A4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0435" y="4206151"/>
            <a:ext cx="6891129" cy="1009719"/>
          </a:xfrm>
        </p:spPr>
        <p:txBody>
          <a:bodyPr>
            <a:normAutofit fontScale="92500"/>
          </a:bodyPr>
          <a:lstStyle/>
          <a:p>
            <a:r>
              <a:rPr lang="vi-VN" dirty="0">
                <a:cs typeface="Arial" panose="020B0604020202020204" pitchFamily="34" charset="0"/>
              </a:rPr>
              <a:t>Người trình bày: Đỗ Văn Cung</a:t>
            </a:r>
          </a:p>
          <a:p>
            <a:r>
              <a:rPr lang="vi-VN" dirty="0">
                <a:cs typeface="Arial" panose="020B0604020202020204" pitchFamily="34" charset="0"/>
              </a:rPr>
              <a:t>Giảng viên hướng dẫn: </a:t>
            </a:r>
            <a:r>
              <a:rPr lang="en-VN" dirty="0">
                <a:latin typeface="Arial" panose="020B0604020202020204" pitchFamily="34" charset="0"/>
                <a:cs typeface="Arial" panose="020B0604020202020204" pitchFamily="34" charset="0"/>
              </a:rPr>
              <a:t>PGS.TS Nguyễn Văn Hậu</a:t>
            </a:r>
            <a:endParaRPr lang="vi-VN" dirty="0">
              <a:cs typeface="Arial" panose="020B0604020202020204" pitchFamily="34" charset="0"/>
            </a:endParaRPr>
          </a:p>
          <a:p>
            <a:endParaRPr lang="vi-V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75537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71BE7-6C54-4047-B38C-857DC8ADBD23}"/>
              </a:ext>
            </a:extLst>
          </p:cNvPr>
          <p:cNvSpPr txBox="1"/>
          <p:nvPr/>
        </p:nvSpPr>
        <p:spPr>
          <a:xfrm>
            <a:off x="11317357" y="6396587"/>
            <a:ext cx="72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1/18</a:t>
            </a:r>
            <a:endParaRPr lang="vi-VN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BB9D3D-BE97-4C6A-9734-461B6EA45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667" y="5730772"/>
            <a:ext cx="720874" cy="7437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0D2842-16A5-4945-9F40-4BCF897D0F87}"/>
              </a:ext>
            </a:extLst>
          </p:cNvPr>
          <p:cNvSpPr txBox="1"/>
          <p:nvPr/>
        </p:nvSpPr>
        <p:spPr>
          <a:xfrm>
            <a:off x="3580717" y="6027255"/>
            <a:ext cx="665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HUNG YEN UNIVERSITY OF TECHNOLOGY AND EDUCATION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361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5808" y="6467060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2/18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BCDD56-EE8F-446E-A8D2-A58F80C904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89984" y="596347"/>
            <a:ext cx="8123789" cy="4146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kumimoji="0" lang="en-US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kumimoji="0" lang="en-US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kumimoji="0" lang="en-US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kumimoji="0" lang="en-US" altLang="vi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lang="en-US" alt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endParaRPr lang="en-US" alt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kumimoji="0" lang="en-US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kumimoji="0" lang="en-US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kumimoji="0" lang="en-US" altLang="vi-V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vi-V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kumimoji="0" lang="en-US" altLang="vi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lang="en-US" alt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kumimoji="0" lang="vi-VN" altLang="vi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254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526695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3/18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BCEC369-A3AA-409E-AAA6-A04295A9EB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4173" y="866908"/>
            <a:ext cx="68642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1.Tổng Quan </a:t>
            </a:r>
            <a:r>
              <a:rPr kumimoji="0" lang="en-US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kumimoji="0" lang="en-US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kumimoji="0" lang="en-US" altLang="vi-V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vi-V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endParaRPr kumimoji="0" lang="vi-VN" altLang="vi-V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0D30B-67F8-487E-84FA-18BA0A031676}"/>
              </a:ext>
            </a:extLst>
          </p:cNvPr>
          <p:cNvSpPr txBox="1"/>
          <p:nvPr/>
        </p:nvSpPr>
        <p:spPr>
          <a:xfrm>
            <a:off x="464173" y="1749539"/>
            <a:ext cx="107740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nghĩa: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Hệ thống tự học hỏi từ dữ liệu để cải thiện hiệu suất mà không cần lập trình cụ thể.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bài toán: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Thuộc nhóm Học có giám sát (Supervised Learning).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 bài toán Hồi quy (Regression) vì Output là giá trị liên tục (Tiền).</a:t>
            </a:r>
          </a:p>
          <a:p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87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526695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4/18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Tổng</a:t>
            </a:r>
            <a:r>
              <a:rPr lang="en-US" sz="3200" dirty="0"/>
              <a:t> </a:t>
            </a:r>
            <a:r>
              <a:rPr lang="en-US" sz="3200" dirty="0" err="1"/>
              <a:t>quan</a:t>
            </a:r>
            <a:r>
              <a:rPr lang="en-US" sz="3200" dirty="0"/>
              <a:t> </a:t>
            </a:r>
            <a:r>
              <a:rPr lang="en-US" sz="3200" dirty="0" err="1"/>
              <a:t>bài</a:t>
            </a:r>
            <a:r>
              <a:rPr lang="en-US" sz="3200" dirty="0"/>
              <a:t> </a:t>
            </a:r>
            <a:r>
              <a:rPr lang="en-US" sz="3200" dirty="0" err="1"/>
              <a:t>toán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BCDD56-EE8F-446E-A8D2-A58F80C904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1079" y="1375997"/>
            <a:ext cx="11489842" cy="317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Thực tế:</a:t>
            </a:r>
            <a:r>
              <a:rPr lang="vi-VN" dirty="0"/>
              <a:t> Giá vé biến động rất phức tạp (theo giờ, ngày lễ, hãng bay...). Khách hàng khó tìm giá tốt.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Mục tiêu:</a:t>
            </a:r>
            <a:r>
              <a:rPr lang="vi-VN" dirty="0"/>
              <a:t> Xây dựng mô hình dự đoán chính xác giá vé tại thị trường Ấn Độ.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Input:</a:t>
            </a:r>
            <a:r>
              <a:rPr lang="vi-VN" dirty="0"/>
              <a:t> Hãng bay, Điểm đi/đến, Giờ bay, Số điểm dừng...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Output:</a:t>
            </a:r>
            <a:r>
              <a:rPr lang="vi-VN" dirty="0"/>
              <a:t> Giá vé (INR).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B1D69FB-ABDA-4010-92A0-E39D24E59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314" y="705252"/>
            <a:ext cx="68642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2.Bài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endParaRPr lang="vi-VN" alt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44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526695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5/18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C6B85-7877-400B-89A7-7314E46A4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295" y="775252"/>
            <a:ext cx="5433392" cy="596347"/>
          </a:xfrm>
        </p:spPr>
        <p:txBody>
          <a:bodyPr>
            <a:norm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Ý t</a:t>
            </a:r>
            <a:r>
              <a:rPr lang="vi-VN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ưởng lựa chọn mô hình</a:t>
            </a:r>
          </a:p>
          <a:p>
            <a:pPr algn="l">
              <a:lnSpc>
                <a:spcPct val="100000"/>
              </a:lnSpc>
            </a:pP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F2865-6E10-4FC0-9961-C1ACA001E3D6}"/>
              </a:ext>
            </a:extLst>
          </p:cNvPr>
          <p:cNvSpPr txBox="1"/>
          <p:nvPr/>
        </p:nvSpPr>
        <p:spPr>
          <a:xfrm>
            <a:off x="404799" y="1775791"/>
            <a:ext cx="1178720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Nhóm đề xuất so sánh 2 cách tiếp cận:</a:t>
            </a:r>
          </a:p>
          <a:p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 hình Tuyến tính (Linear Regression):</a:t>
            </a:r>
            <a:b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Làm mô hình cơ sở (Baseline) để kiểm tra các mối quan hệ đơn giản.</a:t>
            </a:r>
          </a:p>
          <a:p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 hình Phi tuyến (Random Forest):</a:t>
            </a:r>
            <a:b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Làm mô hình chính để nắm bắt sự phức tạp, rời rạc của dữ liệu giá vé thực tế.</a:t>
            </a:r>
          </a:p>
          <a:p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998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394173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6/18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BB507D3-B817-42CE-BF90-130A3970FB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78294" y="1550504"/>
            <a:ext cx="11078403" cy="3534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Nguyên lý: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Tìm đường thẳng khớp nhất với dữ liệu bằng cách tối thiểu hóa sai số bình phương (MSE).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Ưu điểm: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Đơn giản, dễ giải thích, huấn luyện nhanh.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Nhược điểm chí mạng: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buFont typeface="Courier New" panose="02070309020205020404" pitchFamily="49" charset="0"/>
              <a:buChar char="o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Giả định quan hệ tuyến tính (Trong khi giá vé là phi tuyến).</a:t>
            </a:r>
          </a:p>
          <a:p>
            <a:pPr marL="914400" lvl="1" indent="-457200" algn="l">
              <a:buFont typeface="Courier New" panose="02070309020205020404" pitchFamily="49" charset="0"/>
              <a:buChar char="o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Rất nhạy cảm với dữ liệu nhiễu (Outliers).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vi-VN" altLang="vi-VN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BCED4AF-7CE6-4B5C-A0A1-0BC7300891CB}"/>
              </a:ext>
            </a:extLst>
          </p:cNvPr>
          <p:cNvSpPr txBox="1">
            <a:spLocks/>
          </p:cNvSpPr>
          <p:nvPr/>
        </p:nvSpPr>
        <p:spPr>
          <a:xfrm>
            <a:off x="278294" y="775252"/>
            <a:ext cx="6294783" cy="5963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</a:t>
            </a:r>
            <a:r>
              <a:rPr lang="en-US" altLang="vi-VN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Regresssion</a:t>
            </a:r>
            <a:endParaRPr lang="vi-VN" altLang="vi-V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57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407425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7/18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Mô hình học máy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39A139-554E-4DFA-AF35-E92B50E83DB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4951" y="1510746"/>
            <a:ext cx="11084927" cy="319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Nguyên lý: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Học máy tổ hợp (Ensemble), kết hợp nhiều Cây quyết định (Decision Trees).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Cơ chế: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Dùng kỹ thuật Bagging (Lấy mẫu ngẫu nhiên) để tổng hợp kết quả.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chọn: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lý tốt dữ liệu nhiều chiều, dữ liệu phân loại.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Chống Overfitting tốt hơn cây quyết định đơn lẻ.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356C422-0008-43F9-87A8-A1D68108198F}"/>
              </a:ext>
            </a:extLst>
          </p:cNvPr>
          <p:cNvSpPr txBox="1">
            <a:spLocks/>
          </p:cNvSpPr>
          <p:nvPr/>
        </p:nvSpPr>
        <p:spPr>
          <a:xfrm>
            <a:off x="364951" y="755373"/>
            <a:ext cx="6294783" cy="596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</a:t>
            </a:r>
            <a:endParaRPr lang="vi-VN" altLang="vi-V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981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407425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7/18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Mô hình học máy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39A139-554E-4DFA-AF35-E92B50E83DB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4951" y="1615368"/>
            <a:ext cx="11084927" cy="202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356C422-0008-43F9-87A8-A1D68108198F}"/>
              </a:ext>
            </a:extLst>
          </p:cNvPr>
          <p:cNvSpPr txBox="1">
            <a:spLocks/>
          </p:cNvSpPr>
          <p:nvPr/>
        </p:nvSpPr>
        <p:spPr>
          <a:xfrm>
            <a:off x="364951" y="755373"/>
            <a:ext cx="6294783" cy="596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vi-V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56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433930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8/18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Cài đặt mô hình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54ADF5-9BD4-4D0C-AE53-A3EA6A149AEC}"/>
              </a:ext>
            </a:extLst>
          </p:cNvPr>
          <p:cNvSpPr txBox="1"/>
          <p:nvPr/>
        </p:nvSpPr>
        <p:spPr>
          <a:xfrm>
            <a:off x="3299791" y="5548659"/>
            <a:ext cx="55924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dirty="0">
                <a:solidFill>
                  <a:schemeClr val="accent5"/>
                </a:solidFill>
              </a:rPr>
              <a:t>Source: https://www.kaggle.com/datasets/nikhilmittal/flight-fare-prediction-mh/data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75BAE2-C122-4A10-BF7F-5742E8F13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24" y="1671392"/>
            <a:ext cx="10764752" cy="3515216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0DAE42CE-7B42-4AB8-8F2D-AFAEE99D69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8463" y="938213"/>
            <a:ext cx="8029575" cy="66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1.Mô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vi-VN" altLang="vi-V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811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420677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9/17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Cài đặt mô hình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40B04B-EEAA-459C-BB98-BF4E04EC09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750365" y="1929082"/>
            <a:ext cx="7659756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vi-VN" altLang="vi-V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5509E-D3EB-413D-B760-EB6FC8F21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96" y="1361661"/>
            <a:ext cx="10376452" cy="54963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BE75D73-B51B-4742-8855-B3C1270C9419}"/>
              </a:ext>
            </a:extLst>
          </p:cNvPr>
          <p:cNvSpPr/>
          <p:nvPr/>
        </p:nvSpPr>
        <p:spPr>
          <a:xfrm>
            <a:off x="583096" y="699262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2.Phân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vi-VN" alt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156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467060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10/17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Clustering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40B04B-EEAA-459C-BB98-BF4E04EC09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46767" y="4737468"/>
            <a:ext cx="6811617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vi-VN" altLang="vi-V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72420A-5FBA-45D0-805D-40EF7636A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103" y="1540565"/>
            <a:ext cx="9483794" cy="5257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822954-418D-4171-971A-6915E20B4398}"/>
              </a:ext>
            </a:extLst>
          </p:cNvPr>
          <p:cNvSpPr/>
          <p:nvPr/>
        </p:nvSpPr>
        <p:spPr>
          <a:xfrm>
            <a:off x="583096" y="699262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2.Phân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vi-VN" alt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423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453807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11/17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Classification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53E5D9-DF54-4BD6-8AEF-C78C2D429F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5775" y="746971"/>
            <a:ext cx="4479233" cy="14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2.Phân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vi-VN" alt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vi-VN" altLang="vi-V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45741F-984C-4E06-8A30-CFBF0C2B5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341" y="1741419"/>
            <a:ext cx="82677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0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367668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12/17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Cài đặt mô hình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614479E-4B56-459B-98DD-3B4C803C489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36588" y="1583574"/>
            <a:ext cx="184731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vi-VN" altLang="vi-V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4DDE576-8F48-490E-82F3-CCA79D0A9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75" y="746971"/>
            <a:ext cx="4479233" cy="14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3.Tiền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vi-VN" alt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vi-VN" alt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FA97C-6533-4289-91CE-7990CBC58B26}"/>
              </a:ext>
            </a:extLst>
          </p:cNvPr>
          <p:cNvSpPr txBox="1"/>
          <p:nvPr/>
        </p:nvSpPr>
        <p:spPr>
          <a:xfrm>
            <a:off x="238222" y="1873557"/>
            <a:ext cx="1146344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Làm sạch (Cleaning):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vi-VN" sz="2800" dirty="0">
                <a:latin typeface="+mj-lt"/>
              </a:rPr>
              <a:t>Xử lý giá trị thiếu.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vi-VN" sz="2800" dirty="0">
                <a:latin typeface="+mj-lt"/>
              </a:rPr>
              <a:t>Quan trọng</a:t>
            </a:r>
            <a:r>
              <a:rPr lang="vi-VN" sz="2800" b="1" dirty="0">
                <a:latin typeface="+mj-lt"/>
              </a:rPr>
              <a:t>:</a:t>
            </a:r>
            <a:r>
              <a:rPr lang="vi-VN" sz="2800" dirty="0">
                <a:latin typeface="+mj-lt"/>
              </a:rPr>
              <a:t> Lọc bỏ vé giá &gt; 50.000 INR (Giúp tăng độ chính xác Linear từ 57% -&gt; 60%).</a:t>
            </a:r>
            <a:endParaRPr lang="vi-V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Đổi "2h 30m" -&gt; 150 phút; Tách Ngày/Tháng.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Mã hóa: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Label Encoding (Total_Stops), One-Hot (Airline).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921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526695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13/17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Cài đặt mô hình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CC5367D-2759-4F2A-A088-95C21CD903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37583" y="878605"/>
            <a:ext cx="860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vi-VN" altLang="vi-V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4F6A44-2B5A-4889-AA5A-960B8A2C7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75" y="746971"/>
            <a:ext cx="4479233" cy="14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vi-VN" alt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vi-VN" alt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FB8DA8-35CD-49B3-A4EE-44DE910FB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72" y="1752366"/>
            <a:ext cx="4638750" cy="31509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BFEF65-5FDD-43FD-9AD0-8D172B7FA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118" y="1752365"/>
            <a:ext cx="6162751" cy="315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81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526695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14/17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/>
              <a:t>Cài đặt mô hình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ADBA7DB-805D-4659-B775-96EFBCEF26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886606" y="298173"/>
            <a:ext cx="2305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vi-VN" altLang="vi-V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4EAA0CC-6773-4877-BA55-053F9DA61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75" y="746971"/>
            <a:ext cx="4479233" cy="14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vi-VN" alt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vi-VN" alt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3F82D-4E25-4D21-83DB-DA58FFD3B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4" y="1934818"/>
            <a:ext cx="10999305" cy="282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89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202E-E28D-44DB-80AC-C42A75CCB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1339" y="6526695"/>
            <a:ext cx="980661" cy="33130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vi-VN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96528-5862-4F00-8EAD-12D55C0D7CB9}"/>
              </a:ext>
            </a:extLst>
          </p:cNvPr>
          <p:cNvSpPr/>
          <p:nvPr/>
        </p:nvSpPr>
        <p:spPr>
          <a:xfrm>
            <a:off x="0" y="0"/>
            <a:ext cx="12192000" cy="5963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ADBA7DB-805D-4659-B775-96EFBCEF26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5371" y="1701086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vi-VN" altLang="vi-V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AutoShape 2" descr="Những hình ảnh 'Cảm ơn bạn đã lắng nghe' đầy tính thẩm mỹ và ấn tượng.">
            <a:extLst>
              <a:ext uri="{FF2B5EF4-FFF2-40B4-BE49-F238E27FC236}">
                <a16:creationId xmlns:a16="http://schemas.microsoft.com/office/drawing/2014/main" id="{4E3A6DF8-DC63-44CF-9E8F-02CC772F6B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6DEB2B-DFA8-4366-864B-64A0E007D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6CCAC4-6DA7-4448-9628-56DA66E86187}"/>
              </a:ext>
            </a:extLst>
          </p:cNvPr>
          <p:cNvSpPr txBox="1"/>
          <p:nvPr/>
        </p:nvSpPr>
        <p:spPr>
          <a:xfrm>
            <a:off x="10933043" y="6414052"/>
            <a:ext cx="755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17/17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0255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908</TotalTime>
  <Words>615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Times New Roman</vt:lpstr>
      <vt:lpstr>Office Theme</vt:lpstr>
      <vt:lpstr>Dự đoán giá vé máy bay (Linear Regression &amp; Random Forest)</vt:lpstr>
      <vt:lpstr>2/18</vt:lpstr>
      <vt:lpstr>3/18</vt:lpstr>
      <vt:lpstr>4/18</vt:lpstr>
      <vt:lpstr>5/18</vt:lpstr>
      <vt:lpstr>6/18</vt:lpstr>
      <vt:lpstr>7/18</vt:lpstr>
      <vt:lpstr>7/18</vt:lpstr>
      <vt:lpstr>8/18</vt:lpstr>
      <vt:lpstr>9/17</vt:lpstr>
      <vt:lpstr>10/17</vt:lpstr>
      <vt:lpstr>11/17</vt:lpstr>
      <vt:lpstr>12/17</vt:lpstr>
      <vt:lpstr>13/17</vt:lpstr>
      <vt:lpstr>14/17</vt:lpstr>
      <vt:lpstr>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docung926@gmail.com</dc:creator>
  <cp:lastModifiedBy>docung926@gmail.com</cp:lastModifiedBy>
  <cp:revision>23</cp:revision>
  <dcterms:created xsi:type="dcterms:W3CDTF">2025-11-16T14:30:00Z</dcterms:created>
  <dcterms:modified xsi:type="dcterms:W3CDTF">2025-12-07T15:50:29Z</dcterms:modified>
</cp:coreProperties>
</file>